
<file path=[Content_Types].xml><?xml version="1.0" encoding="utf-8"?>
<Types xmlns="http://schemas.openxmlformats.org/package/2006/content-types">
  <Default Extension="png" ContentType="image/png"/>
  <Default Extension="svg" ContentType="image/svg+xml"/>
  <Default Extension="jpeg" ContentType="image/jpeg"/>
  <Default Extension="rels" ContentType="application/vnd.openxmlformats-package.relationships+xml"/>
  <Default Extension="xml" ContentType="application/xml"/>
  <Default Extension="fntdata" ContentType="application/x-fontdata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5" r:id="rId8"/>
    <p:sldId id="262" r:id="rId9"/>
    <p:sldId id="266" r:id="rId10"/>
    <p:sldId id="263" r:id="rId11"/>
    <p:sldId id="264" r:id="rId12"/>
  </p:sldIdLst>
  <p:sldSz cx="18288000" cy="10287000"/>
  <p:notesSz cx="6858000" cy="9144000"/>
  <p:embeddedFontLst>
    <p:embeddedFont>
      <p:font typeface="Oswald Bold" panose="020B0604020202020204" charset="0"/>
      <p:regular r:id="rId13"/>
    </p:embeddedFont>
    <p:embeddedFont>
      <p:font typeface="Calibri" panose="020F0502020204030204" pitchFamily="34" charset="0"/>
      <p:regular r:id="rId14"/>
      <p:bold r:id="rId15"/>
      <p:italic r:id="rId16"/>
      <p:boldItalic r:id="rId17"/>
    </p:embeddedFont>
    <p:embeddedFont>
      <p:font typeface="DM Sans Bold" panose="020B0604020202020204" charset="0"/>
      <p:regular r:id="rId18"/>
    </p:embeddedFont>
    <p:embeddedFont>
      <p:font typeface="DM Sans" panose="020B0604020202020204" charset="0"/>
      <p:regular r:id="rId19"/>
    </p:embeddedFont>
    <p:embeddedFont>
      <p:font typeface="Montserrat Classic Bold" panose="020B0604020202020204" charset="0"/>
      <p:regular r:id="rId20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253" autoAdjust="0"/>
    <p:restoredTop sz="94622" autoAdjust="0"/>
  </p:normalViewPr>
  <p:slideViewPr>
    <p:cSldViewPr>
      <p:cViewPr>
        <p:scale>
          <a:sx n="33" d="100"/>
          <a:sy n="33" d="100"/>
        </p:scale>
        <p:origin x="1368" y="61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font" Target="fonts/font6.fntdata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5.fntdata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font" Target="fonts/font8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font" Target="fonts/font7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Relationship Id="rId22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10/6/2024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10/6/2024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10/6/2024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10/6/2024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10/6/2024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10/6/2024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10/6/2024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10/6/2024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10/6/2024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10/6/2024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10/6/2024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10/6/2024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png"/><Relationship Id="rId4" Type="http://schemas.openxmlformats.org/officeDocument/2006/relationships/image" Target="../media/image3.sv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3.svg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svg"/><Relationship Id="rId3" Type="http://schemas.openxmlformats.org/officeDocument/2006/relationships/image" Target="../media/image6.png"/><Relationship Id="rId7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0.svg"/><Relationship Id="rId11" Type="http://schemas.openxmlformats.org/officeDocument/2006/relationships/image" Target="../media/image10.png"/><Relationship Id="rId5" Type="http://schemas.openxmlformats.org/officeDocument/2006/relationships/image" Target="../media/image7.png"/><Relationship Id="rId10" Type="http://schemas.openxmlformats.org/officeDocument/2006/relationships/image" Target="../media/image9.png"/><Relationship Id="rId4" Type="http://schemas.openxmlformats.org/officeDocument/2006/relationships/image" Target="../media/image8.svg"/><Relationship Id="rId9" Type="http://schemas.openxmlformats.org/officeDocument/2006/relationships/image" Target="../media/image8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4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flipH="1" flipV="1"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18288000" y="10287000"/>
                </a:moveTo>
                <a:lnTo>
                  <a:pt x="0" y="10287000"/>
                </a:lnTo>
                <a:lnTo>
                  <a:pt x="0" y="0"/>
                </a:lnTo>
                <a:lnTo>
                  <a:pt x="18288000" y="0"/>
                </a:lnTo>
                <a:lnTo>
                  <a:pt x="18288000" y="10287000"/>
                </a:lnTo>
                <a:close/>
              </a:path>
            </a:pathLst>
          </a:custGeom>
          <a:blipFill>
            <a:blip r:embed="rId2"/>
            <a:stretch>
              <a:fillRect t="-38888" b="-38888"/>
            </a:stretch>
          </a:blipFill>
        </p:spPr>
      </p:sp>
      <p:sp>
        <p:nvSpPr>
          <p:cNvPr id="3" name="Freeform 3"/>
          <p:cNvSpPr/>
          <p:nvPr/>
        </p:nvSpPr>
        <p:spPr>
          <a:xfrm rot="7659121">
            <a:off x="15091031" y="5585714"/>
            <a:ext cx="7629294" cy="7828566"/>
          </a:xfrm>
          <a:custGeom>
            <a:avLst/>
            <a:gdLst/>
            <a:ahLst/>
            <a:cxnLst/>
            <a:rect l="l" t="t" r="r" b="b"/>
            <a:pathLst>
              <a:path w="7629294" h="7828566">
                <a:moveTo>
                  <a:pt x="0" y="0"/>
                </a:moveTo>
                <a:lnTo>
                  <a:pt x="7629294" y="0"/>
                </a:lnTo>
                <a:lnTo>
                  <a:pt x="7629294" y="7828566"/>
                </a:lnTo>
                <a:lnTo>
                  <a:pt x="0" y="7828566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xmlns="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-3258071" y="-4629150"/>
            <a:ext cx="9022634" cy="9258300"/>
          </a:xfrm>
          <a:custGeom>
            <a:avLst/>
            <a:gdLst/>
            <a:ahLst/>
            <a:cxnLst/>
            <a:rect l="l" t="t" r="r" b="b"/>
            <a:pathLst>
              <a:path w="9022634" h="9258300">
                <a:moveTo>
                  <a:pt x="0" y="0"/>
                </a:moveTo>
                <a:lnTo>
                  <a:pt x="9022634" y="0"/>
                </a:lnTo>
                <a:lnTo>
                  <a:pt x="9022634" y="9258300"/>
                </a:lnTo>
                <a:lnTo>
                  <a:pt x="0" y="925830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xmlns="" r:embed="rId4"/>
                </a:ext>
              </a:extLst>
            </a:blip>
            <a:stretch>
              <a:fillRect/>
            </a:stretch>
          </a:blipFill>
        </p:spPr>
      </p:sp>
      <p:grpSp>
        <p:nvGrpSpPr>
          <p:cNvPr id="5" name="Group 5"/>
          <p:cNvGrpSpPr/>
          <p:nvPr/>
        </p:nvGrpSpPr>
        <p:grpSpPr>
          <a:xfrm>
            <a:off x="4236347" y="3202251"/>
            <a:ext cx="9815307" cy="4208864"/>
            <a:chOff x="0" y="0"/>
            <a:chExt cx="1895495" cy="81280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1895495" cy="812800"/>
            </a:xfrm>
            <a:custGeom>
              <a:avLst/>
              <a:gdLst/>
              <a:ahLst/>
              <a:cxnLst/>
              <a:rect l="l" t="t" r="r" b="b"/>
              <a:pathLst>
                <a:path w="1895495" h="812800">
                  <a:moveTo>
                    <a:pt x="0" y="0"/>
                  </a:moveTo>
                  <a:lnTo>
                    <a:pt x="1895495" y="0"/>
                  </a:lnTo>
                  <a:lnTo>
                    <a:pt x="1895495" y="812800"/>
                  </a:lnTo>
                  <a:lnTo>
                    <a:pt x="0" y="81280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3810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0" y="-19050"/>
              <a:ext cx="1895495" cy="8318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59"/>
                </a:lnSpc>
              </a:pPr>
              <a:endParaRPr/>
            </a:p>
          </p:txBody>
        </p:sp>
      </p:grpSp>
      <p:sp>
        <p:nvSpPr>
          <p:cNvPr id="8" name="Freeform 8"/>
          <p:cNvSpPr/>
          <p:nvPr/>
        </p:nvSpPr>
        <p:spPr>
          <a:xfrm>
            <a:off x="13394427" y="823386"/>
            <a:ext cx="3864873" cy="2846224"/>
          </a:xfrm>
          <a:custGeom>
            <a:avLst/>
            <a:gdLst/>
            <a:ahLst/>
            <a:cxnLst/>
            <a:rect l="l" t="t" r="r" b="b"/>
            <a:pathLst>
              <a:path w="3864873" h="2846224">
                <a:moveTo>
                  <a:pt x="0" y="0"/>
                </a:moveTo>
                <a:lnTo>
                  <a:pt x="3864873" y="0"/>
                </a:lnTo>
                <a:lnTo>
                  <a:pt x="3864873" y="2846224"/>
                </a:lnTo>
                <a:lnTo>
                  <a:pt x="0" y="2846224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</p:sp>
      <p:sp>
        <p:nvSpPr>
          <p:cNvPr id="9" name="TextBox 9"/>
          <p:cNvSpPr txBox="1"/>
          <p:nvPr/>
        </p:nvSpPr>
        <p:spPr>
          <a:xfrm>
            <a:off x="4236347" y="4348786"/>
            <a:ext cx="9815307" cy="276661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2684"/>
              </a:lnSpc>
            </a:pPr>
            <a:r>
              <a:rPr lang="en-US" sz="16437" b="1" spc="1610">
                <a:solidFill>
                  <a:srgbClr val="231F20"/>
                </a:solidFill>
                <a:latin typeface="Oswald Bold"/>
                <a:ea typeface="Oswald Bold"/>
                <a:cs typeface="Oswald Bold"/>
                <a:sym typeface="Oswald Bold"/>
              </a:rPr>
              <a:t>ENGINE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4236347" y="3438109"/>
            <a:ext cx="9815307" cy="118690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748"/>
              </a:lnSpc>
            </a:pPr>
            <a:r>
              <a:rPr lang="en-US" sz="7063" b="1" spc="692">
                <a:solidFill>
                  <a:srgbClr val="231F20"/>
                </a:solidFill>
                <a:latin typeface="Oswald Bold"/>
                <a:ea typeface="Oswald Bold"/>
                <a:cs typeface="Oswald Bold"/>
                <a:sym typeface="Oswald Bold"/>
              </a:rPr>
              <a:t>SEMANTIC SEARCH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2719596" y="8315989"/>
            <a:ext cx="12848809" cy="89629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61"/>
              </a:lnSpc>
            </a:pPr>
            <a:r>
              <a:rPr lang="en-US" sz="2653" b="1" spc="140">
                <a:solidFill>
                  <a:srgbClr val="231F20"/>
                </a:solidFill>
                <a:latin typeface="Montserrat Classic Bold"/>
                <a:ea typeface="Montserrat Classic Bold"/>
                <a:cs typeface="Montserrat Classic Bold"/>
                <a:sym typeface="Montserrat Classic Bold"/>
              </a:rPr>
              <a:t>PRESENTED BY : POOJAN KOJU‘</a:t>
            </a:r>
          </a:p>
          <a:p>
            <a:pPr algn="ctr">
              <a:lnSpc>
                <a:spcPts val="3661"/>
              </a:lnSpc>
            </a:pPr>
            <a:r>
              <a:rPr lang="en-US" sz="2653" b="1" spc="140">
                <a:solidFill>
                  <a:srgbClr val="231F20"/>
                </a:solidFill>
                <a:latin typeface="Montserrat Classic Bold"/>
                <a:ea typeface="Montserrat Classic Bold"/>
                <a:cs typeface="Montserrat Classic Bold"/>
                <a:sym typeface="Montserrat Classic Bold"/>
              </a:rPr>
              <a:t>10TH OCTOBER 2024 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flipH="1" flipV="1"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18288000" y="10287000"/>
                </a:moveTo>
                <a:lnTo>
                  <a:pt x="0" y="10287000"/>
                </a:lnTo>
                <a:lnTo>
                  <a:pt x="0" y="0"/>
                </a:lnTo>
                <a:lnTo>
                  <a:pt x="18288000" y="0"/>
                </a:lnTo>
                <a:lnTo>
                  <a:pt x="18288000" y="10287000"/>
                </a:lnTo>
                <a:close/>
              </a:path>
            </a:pathLst>
          </a:custGeom>
          <a:blipFill>
            <a:blip r:embed="rId2"/>
            <a:stretch>
              <a:fillRect t="-38888" b="-38888"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13662994" y="337474"/>
            <a:ext cx="4296549" cy="9570246"/>
            <a:chOff x="0" y="0"/>
            <a:chExt cx="1131601" cy="2520559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1131601" cy="2520559"/>
            </a:xfrm>
            <a:custGeom>
              <a:avLst/>
              <a:gdLst/>
              <a:ahLst/>
              <a:cxnLst/>
              <a:rect l="l" t="t" r="r" b="b"/>
              <a:pathLst>
                <a:path w="1131601" h="2520559">
                  <a:moveTo>
                    <a:pt x="0" y="0"/>
                  </a:moveTo>
                  <a:lnTo>
                    <a:pt x="1131601" y="0"/>
                  </a:lnTo>
                  <a:lnTo>
                    <a:pt x="1131601" y="2520559"/>
                  </a:lnTo>
                  <a:lnTo>
                    <a:pt x="0" y="2520559"/>
                  </a:lnTo>
                  <a:close/>
                </a:path>
              </a:pathLst>
            </a:custGeom>
            <a:solidFill>
              <a:srgbClr val="CCCCCC"/>
            </a:solidFill>
          </p:spPr>
        </p:sp>
        <p:sp>
          <p:nvSpPr>
            <p:cNvPr id="5" name="TextBox 5"/>
            <p:cNvSpPr txBox="1"/>
            <p:nvPr/>
          </p:nvSpPr>
          <p:spPr>
            <a:xfrm>
              <a:off x="0" y="-19050"/>
              <a:ext cx="1131601" cy="253960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59"/>
                </a:lnSpc>
              </a:pPr>
              <a:endParaRPr/>
            </a:p>
          </p:txBody>
        </p:sp>
      </p:grpSp>
      <p:sp>
        <p:nvSpPr>
          <p:cNvPr id="6" name="Freeform 6"/>
          <p:cNvSpPr/>
          <p:nvPr/>
        </p:nvSpPr>
        <p:spPr>
          <a:xfrm>
            <a:off x="2142191" y="4828880"/>
            <a:ext cx="9752965" cy="1032847"/>
          </a:xfrm>
          <a:custGeom>
            <a:avLst/>
            <a:gdLst/>
            <a:ahLst/>
            <a:cxnLst/>
            <a:rect l="l" t="t" r="r" b="b"/>
            <a:pathLst>
              <a:path w="9752965" h="1032847">
                <a:moveTo>
                  <a:pt x="0" y="0"/>
                </a:moveTo>
                <a:lnTo>
                  <a:pt x="9752965" y="0"/>
                </a:lnTo>
                <a:lnTo>
                  <a:pt x="9752965" y="1032847"/>
                </a:lnTo>
                <a:lnTo>
                  <a:pt x="0" y="103284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t="-86495"/>
            </a:stretch>
          </a:blipFill>
        </p:spPr>
      </p:sp>
      <p:grpSp>
        <p:nvGrpSpPr>
          <p:cNvPr id="7" name="Group 7"/>
          <p:cNvGrpSpPr/>
          <p:nvPr/>
        </p:nvGrpSpPr>
        <p:grpSpPr>
          <a:xfrm>
            <a:off x="2142191" y="3194502"/>
            <a:ext cx="9610044" cy="1948998"/>
            <a:chOff x="0" y="0"/>
            <a:chExt cx="3682024" cy="746746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3682024" cy="746746"/>
            </a:xfrm>
            <a:custGeom>
              <a:avLst/>
              <a:gdLst/>
              <a:ahLst/>
              <a:cxnLst/>
              <a:rect l="l" t="t" r="r" b="b"/>
              <a:pathLst>
                <a:path w="3682024" h="746746">
                  <a:moveTo>
                    <a:pt x="0" y="0"/>
                  </a:moveTo>
                  <a:lnTo>
                    <a:pt x="3682024" y="0"/>
                  </a:lnTo>
                  <a:lnTo>
                    <a:pt x="3682024" y="746746"/>
                  </a:lnTo>
                  <a:lnTo>
                    <a:pt x="0" y="746746"/>
                  </a:lnTo>
                  <a:close/>
                </a:path>
              </a:pathLst>
            </a:custGeom>
            <a:solidFill>
              <a:srgbClr val="EFEFEF"/>
            </a:solidFill>
          </p:spPr>
        </p:sp>
        <p:sp>
          <p:nvSpPr>
            <p:cNvPr id="9" name="TextBox 9"/>
            <p:cNvSpPr txBox="1"/>
            <p:nvPr/>
          </p:nvSpPr>
          <p:spPr>
            <a:xfrm>
              <a:off x="0" y="-19050"/>
              <a:ext cx="3682024" cy="76579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59"/>
                </a:lnSpc>
              </a:pPr>
              <a:endParaRPr/>
            </a:p>
          </p:txBody>
        </p:sp>
      </p:grpSp>
      <p:sp>
        <p:nvSpPr>
          <p:cNvPr id="10" name="Freeform 10"/>
          <p:cNvSpPr/>
          <p:nvPr/>
        </p:nvSpPr>
        <p:spPr>
          <a:xfrm>
            <a:off x="2142191" y="8132773"/>
            <a:ext cx="9752965" cy="1032847"/>
          </a:xfrm>
          <a:custGeom>
            <a:avLst/>
            <a:gdLst/>
            <a:ahLst/>
            <a:cxnLst/>
            <a:rect l="l" t="t" r="r" b="b"/>
            <a:pathLst>
              <a:path w="9752965" h="1032847">
                <a:moveTo>
                  <a:pt x="0" y="0"/>
                </a:moveTo>
                <a:lnTo>
                  <a:pt x="9752965" y="0"/>
                </a:lnTo>
                <a:lnTo>
                  <a:pt x="9752965" y="1032847"/>
                </a:lnTo>
                <a:lnTo>
                  <a:pt x="0" y="103284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t="-86495"/>
            </a:stretch>
          </a:blipFill>
        </p:spPr>
      </p:sp>
      <p:grpSp>
        <p:nvGrpSpPr>
          <p:cNvPr id="11" name="Group 11"/>
          <p:cNvGrpSpPr/>
          <p:nvPr/>
        </p:nvGrpSpPr>
        <p:grpSpPr>
          <a:xfrm>
            <a:off x="2142191" y="5841356"/>
            <a:ext cx="9762822" cy="2807840"/>
            <a:chOff x="0" y="0"/>
            <a:chExt cx="3740559" cy="1075805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3740559" cy="1075805"/>
            </a:xfrm>
            <a:custGeom>
              <a:avLst/>
              <a:gdLst/>
              <a:ahLst/>
              <a:cxnLst/>
              <a:rect l="l" t="t" r="r" b="b"/>
              <a:pathLst>
                <a:path w="3740559" h="1075805">
                  <a:moveTo>
                    <a:pt x="0" y="0"/>
                  </a:moveTo>
                  <a:lnTo>
                    <a:pt x="3740559" y="0"/>
                  </a:lnTo>
                  <a:lnTo>
                    <a:pt x="3740559" y="1075805"/>
                  </a:lnTo>
                  <a:lnTo>
                    <a:pt x="0" y="1075805"/>
                  </a:lnTo>
                  <a:close/>
                </a:path>
              </a:pathLst>
            </a:custGeom>
            <a:solidFill>
              <a:srgbClr val="EFEFEF"/>
            </a:solidFill>
          </p:spPr>
        </p:sp>
        <p:sp>
          <p:nvSpPr>
            <p:cNvPr id="13" name="TextBox 13"/>
            <p:cNvSpPr txBox="1"/>
            <p:nvPr/>
          </p:nvSpPr>
          <p:spPr>
            <a:xfrm>
              <a:off x="0" y="-19050"/>
              <a:ext cx="3740559" cy="109485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59"/>
                </a:lnSpc>
              </a:pPr>
              <a:endParaRPr/>
            </a:p>
          </p:txBody>
        </p:sp>
      </p:grpSp>
      <p:sp>
        <p:nvSpPr>
          <p:cNvPr id="14" name="TextBox 14"/>
          <p:cNvSpPr txBox="1"/>
          <p:nvPr/>
        </p:nvSpPr>
        <p:spPr>
          <a:xfrm>
            <a:off x="2328412" y="6017643"/>
            <a:ext cx="8883152" cy="29065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19226" lvl="1" indent="-259613" algn="l">
              <a:lnSpc>
                <a:spcPts val="3318"/>
              </a:lnSpc>
              <a:buFont typeface="Arial"/>
              <a:buChar char="•"/>
            </a:pPr>
            <a:r>
              <a:rPr lang="en-US" sz="2404" spc="235">
                <a:solidFill>
                  <a:srgbClr val="231F20"/>
                </a:solidFill>
                <a:latin typeface="DM Sans"/>
                <a:ea typeface="DM Sans"/>
                <a:cs typeface="DM Sans"/>
                <a:sym typeface="DM Sans"/>
              </a:rPr>
              <a:t>Leverages Natural Language Processing (NLP) techniques to comprehend query intent.</a:t>
            </a:r>
          </a:p>
          <a:p>
            <a:pPr marL="519226" lvl="1" indent="-259613" algn="l">
              <a:lnSpc>
                <a:spcPts val="3318"/>
              </a:lnSpc>
              <a:buFont typeface="Arial"/>
              <a:buChar char="•"/>
            </a:pPr>
            <a:r>
              <a:rPr lang="en-US" sz="2404" spc="235">
                <a:solidFill>
                  <a:srgbClr val="231F20"/>
                </a:solidFill>
                <a:latin typeface="DM Sans"/>
                <a:ea typeface="DM Sans"/>
                <a:cs typeface="DM Sans"/>
                <a:sym typeface="DM Sans"/>
              </a:rPr>
              <a:t>Uses pre-trained language models like BERT to grasp the semantic relationships between words.</a:t>
            </a:r>
          </a:p>
          <a:p>
            <a:pPr marL="519226" lvl="1" indent="-259613" algn="l">
              <a:lnSpc>
                <a:spcPts val="3318"/>
              </a:lnSpc>
              <a:buFont typeface="Arial"/>
              <a:buChar char="•"/>
            </a:pPr>
            <a:r>
              <a:rPr lang="en-US" sz="2404" spc="235">
                <a:solidFill>
                  <a:srgbClr val="231F20"/>
                </a:solidFill>
                <a:latin typeface="DM Sans"/>
                <a:ea typeface="DM Sans"/>
                <a:cs typeface="DM Sans"/>
                <a:sym typeface="DM Sans"/>
              </a:rPr>
              <a:t>Finds results based on concepts rather than exact terms.</a:t>
            </a:r>
          </a:p>
          <a:p>
            <a:pPr marL="0" lvl="0" indent="0" algn="l">
              <a:lnSpc>
                <a:spcPts val="3318"/>
              </a:lnSpc>
              <a:spcBef>
                <a:spcPct val="0"/>
              </a:spcBef>
            </a:pPr>
            <a:endParaRPr lang="en-US" sz="2404" spc="235">
              <a:solidFill>
                <a:srgbClr val="231F20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15" name="Freeform 15"/>
          <p:cNvSpPr/>
          <p:nvPr/>
        </p:nvSpPr>
        <p:spPr>
          <a:xfrm>
            <a:off x="-2779578" y="7341318"/>
            <a:ext cx="7616557" cy="7815497"/>
          </a:xfrm>
          <a:custGeom>
            <a:avLst/>
            <a:gdLst/>
            <a:ahLst/>
            <a:cxnLst/>
            <a:rect l="l" t="t" r="r" b="b"/>
            <a:pathLst>
              <a:path w="7616557" h="7815497">
                <a:moveTo>
                  <a:pt x="0" y="0"/>
                </a:moveTo>
                <a:lnTo>
                  <a:pt x="7616556" y="0"/>
                </a:lnTo>
                <a:lnTo>
                  <a:pt x="7616556" y="7815497"/>
                </a:lnTo>
                <a:lnTo>
                  <a:pt x="0" y="7815497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xmlns="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16" name="Freeform 16"/>
          <p:cNvSpPr/>
          <p:nvPr/>
        </p:nvSpPr>
        <p:spPr>
          <a:xfrm rot="-5400000">
            <a:off x="10069709" y="2442928"/>
            <a:ext cx="9570246" cy="5359338"/>
          </a:xfrm>
          <a:custGeom>
            <a:avLst/>
            <a:gdLst/>
            <a:ahLst/>
            <a:cxnLst/>
            <a:rect l="l" t="t" r="r" b="b"/>
            <a:pathLst>
              <a:path w="9570246" h="5359338">
                <a:moveTo>
                  <a:pt x="0" y="0"/>
                </a:moveTo>
                <a:lnTo>
                  <a:pt x="9570246" y="0"/>
                </a:lnTo>
                <a:lnTo>
                  <a:pt x="9570246" y="5359338"/>
                </a:lnTo>
                <a:lnTo>
                  <a:pt x="0" y="5359338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</p:sp>
      <p:sp>
        <p:nvSpPr>
          <p:cNvPr id="17" name="TextBox 17"/>
          <p:cNvSpPr txBox="1"/>
          <p:nvPr/>
        </p:nvSpPr>
        <p:spPr>
          <a:xfrm>
            <a:off x="1250986" y="409244"/>
            <a:ext cx="9250277" cy="93918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703"/>
              </a:lnSpc>
            </a:pPr>
            <a:r>
              <a:rPr lang="en-US" sz="5582" b="1" spc="547">
                <a:solidFill>
                  <a:srgbClr val="231F20"/>
                </a:solidFill>
                <a:latin typeface="Oswald Bold"/>
                <a:ea typeface="Oswald Bold"/>
                <a:cs typeface="Oswald Bold"/>
                <a:sym typeface="Oswald Bold"/>
              </a:rPr>
              <a:t>SEMANTIC SEARCH ENGINE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2559360" y="3420952"/>
            <a:ext cx="8481720" cy="166892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326"/>
              </a:lnSpc>
              <a:spcBef>
                <a:spcPct val="0"/>
              </a:spcBef>
            </a:pPr>
            <a:r>
              <a:rPr lang="en-US" sz="2410" spc="236">
                <a:solidFill>
                  <a:srgbClr val="231F20"/>
                </a:solidFill>
                <a:latin typeface="DM Sans"/>
                <a:ea typeface="DM Sans"/>
                <a:cs typeface="DM Sans"/>
                <a:sym typeface="DM Sans"/>
              </a:rPr>
              <a:t>A search engine that goes beyond simple keyword matching to understand the context and meaning of queries, delivering more accurate and relevant results.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flipH="1" flipV="1"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18288000" y="10287000"/>
                </a:moveTo>
                <a:lnTo>
                  <a:pt x="0" y="10287000"/>
                </a:lnTo>
                <a:lnTo>
                  <a:pt x="0" y="0"/>
                </a:lnTo>
                <a:lnTo>
                  <a:pt x="18288000" y="0"/>
                </a:lnTo>
                <a:lnTo>
                  <a:pt x="18288000" y="10287000"/>
                </a:lnTo>
                <a:close/>
              </a:path>
            </a:pathLst>
          </a:custGeom>
          <a:blipFill>
            <a:blip r:embed="rId2"/>
            <a:stretch>
              <a:fillRect t="-38888" b="-38888"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8663659" y="6071953"/>
            <a:ext cx="960682" cy="1052540"/>
          </a:xfrm>
          <a:custGeom>
            <a:avLst/>
            <a:gdLst/>
            <a:ahLst/>
            <a:cxnLst/>
            <a:rect l="l" t="t" r="r" b="b"/>
            <a:pathLst>
              <a:path w="960682" h="1052540">
                <a:moveTo>
                  <a:pt x="0" y="0"/>
                </a:moveTo>
                <a:lnTo>
                  <a:pt x="960682" y="0"/>
                </a:lnTo>
                <a:lnTo>
                  <a:pt x="960682" y="1052541"/>
                </a:lnTo>
                <a:lnTo>
                  <a:pt x="0" y="1052541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xmlns="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12106315" y="7936159"/>
            <a:ext cx="1104804" cy="1121111"/>
          </a:xfrm>
          <a:custGeom>
            <a:avLst/>
            <a:gdLst/>
            <a:ahLst/>
            <a:cxnLst/>
            <a:rect l="l" t="t" r="r" b="b"/>
            <a:pathLst>
              <a:path w="1104804" h="1121111">
                <a:moveTo>
                  <a:pt x="0" y="0"/>
                </a:moveTo>
                <a:lnTo>
                  <a:pt x="1104805" y="0"/>
                </a:lnTo>
                <a:lnTo>
                  <a:pt x="1104805" y="1121111"/>
                </a:lnTo>
                <a:lnTo>
                  <a:pt x="0" y="1121111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xmlns="" r:embed="rId6"/>
                </a:ext>
              </a:extLst>
            </a:blip>
            <a:stretch>
              <a:fillRect/>
            </a:stretch>
          </a:blipFill>
        </p:spPr>
      </p:sp>
      <p:grpSp>
        <p:nvGrpSpPr>
          <p:cNvPr id="5" name="Group 5"/>
          <p:cNvGrpSpPr/>
          <p:nvPr/>
        </p:nvGrpSpPr>
        <p:grpSpPr>
          <a:xfrm>
            <a:off x="1956267" y="4105598"/>
            <a:ext cx="3474003" cy="647719"/>
            <a:chOff x="0" y="0"/>
            <a:chExt cx="914964" cy="170593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914964" cy="170593"/>
            </a:xfrm>
            <a:custGeom>
              <a:avLst/>
              <a:gdLst/>
              <a:ahLst/>
              <a:cxnLst/>
              <a:rect l="l" t="t" r="r" b="b"/>
              <a:pathLst>
                <a:path w="914964" h="170593">
                  <a:moveTo>
                    <a:pt x="0" y="0"/>
                  </a:moveTo>
                  <a:lnTo>
                    <a:pt x="914964" y="0"/>
                  </a:lnTo>
                  <a:lnTo>
                    <a:pt x="914964" y="170593"/>
                  </a:lnTo>
                  <a:lnTo>
                    <a:pt x="0" y="170593"/>
                  </a:lnTo>
                  <a:close/>
                </a:path>
              </a:pathLst>
            </a:custGeom>
            <a:solidFill>
              <a:srgbClr val="1A1A1A"/>
            </a:solidFill>
          </p:spPr>
        </p:sp>
        <p:sp>
          <p:nvSpPr>
            <p:cNvPr id="7" name="TextBox 7"/>
            <p:cNvSpPr txBox="1"/>
            <p:nvPr/>
          </p:nvSpPr>
          <p:spPr>
            <a:xfrm>
              <a:off x="0" y="-57150"/>
              <a:ext cx="914964" cy="22774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4114"/>
                </a:lnSpc>
                <a:spcBef>
                  <a:spcPct val="0"/>
                </a:spcBef>
              </a:pPr>
              <a:r>
                <a:rPr lang="en-US" sz="2981" b="1" spc="29">
                  <a:solidFill>
                    <a:srgbClr val="FFFFFF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E-commerce</a:t>
              </a:r>
            </a:p>
          </p:txBody>
        </p:sp>
      </p:grpSp>
      <p:sp>
        <p:nvSpPr>
          <p:cNvPr id="8" name="TextBox 8"/>
          <p:cNvSpPr txBox="1"/>
          <p:nvPr/>
        </p:nvSpPr>
        <p:spPr>
          <a:xfrm>
            <a:off x="2887170" y="1305982"/>
            <a:ext cx="12955750" cy="88017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241"/>
              </a:lnSpc>
            </a:pPr>
            <a:r>
              <a:rPr lang="en-US" sz="5247" b="1" spc="278">
                <a:solidFill>
                  <a:srgbClr val="231F20"/>
                </a:solidFill>
                <a:latin typeface="Oswald Bold"/>
                <a:ea typeface="Oswald Bold"/>
                <a:cs typeface="Oswald Bold"/>
                <a:sym typeface="Oswald Bold"/>
              </a:rPr>
              <a:t>APPLICATIONS OF SEMANTIC SEARCH</a:t>
            </a:r>
          </a:p>
        </p:txBody>
      </p:sp>
      <p:grpSp>
        <p:nvGrpSpPr>
          <p:cNvPr id="9" name="Group 9"/>
          <p:cNvGrpSpPr/>
          <p:nvPr/>
        </p:nvGrpSpPr>
        <p:grpSpPr>
          <a:xfrm>
            <a:off x="7406999" y="4105598"/>
            <a:ext cx="3474003" cy="647719"/>
            <a:chOff x="0" y="0"/>
            <a:chExt cx="914964" cy="170593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914964" cy="170593"/>
            </a:xfrm>
            <a:custGeom>
              <a:avLst/>
              <a:gdLst/>
              <a:ahLst/>
              <a:cxnLst/>
              <a:rect l="l" t="t" r="r" b="b"/>
              <a:pathLst>
                <a:path w="914964" h="170593">
                  <a:moveTo>
                    <a:pt x="0" y="0"/>
                  </a:moveTo>
                  <a:lnTo>
                    <a:pt x="914964" y="0"/>
                  </a:lnTo>
                  <a:lnTo>
                    <a:pt x="914964" y="170593"/>
                  </a:lnTo>
                  <a:lnTo>
                    <a:pt x="0" y="170593"/>
                  </a:lnTo>
                  <a:close/>
                </a:path>
              </a:pathLst>
            </a:custGeom>
            <a:solidFill>
              <a:srgbClr val="1A1A1A"/>
            </a:solidFill>
          </p:spPr>
        </p:sp>
        <p:sp>
          <p:nvSpPr>
            <p:cNvPr id="11" name="TextBox 11"/>
            <p:cNvSpPr txBox="1"/>
            <p:nvPr/>
          </p:nvSpPr>
          <p:spPr>
            <a:xfrm>
              <a:off x="0" y="-57150"/>
              <a:ext cx="914964" cy="22774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4114"/>
                </a:lnSpc>
                <a:spcBef>
                  <a:spcPct val="0"/>
                </a:spcBef>
              </a:pPr>
              <a:r>
                <a:rPr lang="en-US" sz="2981" b="1" spc="29">
                  <a:solidFill>
                    <a:srgbClr val="FFFFFF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Healthcare</a:t>
              </a:r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12658717" y="4105598"/>
            <a:ext cx="4253321" cy="647719"/>
            <a:chOff x="0" y="0"/>
            <a:chExt cx="1120216" cy="170593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1120216" cy="170593"/>
            </a:xfrm>
            <a:custGeom>
              <a:avLst/>
              <a:gdLst/>
              <a:ahLst/>
              <a:cxnLst/>
              <a:rect l="l" t="t" r="r" b="b"/>
              <a:pathLst>
                <a:path w="1120216" h="170593">
                  <a:moveTo>
                    <a:pt x="0" y="0"/>
                  </a:moveTo>
                  <a:lnTo>
                    <a:pt x="1120216" y="0"/>
                  </a:lnTo>
                  <a:lnTo>
                    <a:pt x="1120216" y="170593"/>
                  </a:lnTo>
                  <a:lnTo>
                    <a:pt x="0" y="170593"/>
                  </a:lnTo>
                  <a:close/>
                </a:path>
              </a:pathLst>
            </a:custGeom>
            <a:solidFill>
              <a:srgbClr val="1A1A1A"/>
            </a:solidFill>
          </p:spPr>
        </p:sp>
        <p:sp>
          <p:nvSpPr>
            <p:cNvPr id="14" name="TextBox 14"/>
            <p:cNvSpPr txBox="1"/>
            <p:nvPr/>
          </p:nvSpPr>
          <p:spPr>
            <a:xfrm>
              <a:off x="0" y="-57150"/>
              <a:ext cx="1120216" cy="22774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4114"/>
                </a:lnSpc>
                <a:spcBef>
                  <a:spcPct val="0"/>
                </a:spcBef>
              </a:pPr>
              <a:r>
                <a:rPr lang="en-US" sz="2981" b="1" spc="29">
                  <a:solidFill>
                    <a:srgbClr val="FFFFFF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Research &amp; Education</a:t>
              </a:r>
            </a:p>
          </p:txBody>
        </p:sp>
      </p:grpSp>
      <p:sp>
        <p:nvSpPr>
          <p:cNvPr id="15" name="Freeform 15"/>
          <p:cNvSpPr/>
          <p:nvPr/>
        </p:nvSpPr>
        <p:spPr>
          <a:xfrm>
            <a:off x="14479722" y="-4833750"/>
            <a:ext cx="7616557" cy="7815497"/>
          </a:xfrm>
          <a:custGeom>
            <a:avLst/>
            <a:gdLst/>
            <a:ahLst/>
            <a:cxnLst/>
            <a:rect l="l" t="t" r="r" b="b"/>
            <a:pathLst>
              <a:path w="7616557" h="7815497">
                <a:moveTo>
                  <a:pt x="0" y="0"/>
                </a:moveTo>
                <a:lnTo>
                  <a:pt x="7616556" y="0"/>
                </a:lnTo>
                <a:lnTo>
                  <a:pt x="7616556" y="7815497"/>
                </a:lnTo>
                <a:lnTo>
                  <a:pt x="0" y="7815497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xmlns="" r:embed="rId8"/>
                </a:ext>
              </a:extLst>
            </a:blip>
            <a:stretch>
              <a:fillRect/>
            </a:stretch>
          </a:blipFill>
        </p:spPr>
      </p:sp>
      <p:sp>
        <p:nvSpPr>
          <p:cNvPr id="16" name="Freeform 16"/>
          <p:cNvSpPr/>
          <p:nvPr/>
        </p:nvSpPr>
        <p:spPr>
          <a:xfrm rot="-4176364">
            <a:off x="-4105129" y="6530238"/>
            <a:ext cx="7616557" cy="7815497"/>
          </a:xfrm>
          <a:custGeom>
            <a:avLst/>
            <a:gdLst/>
            <a:ahLst/>
            <a:cxnLst/>
            <a:rect l="l" t="t" r="r" b="b"/>
            <a:pathLst>
              <a:path w="7616557" h="7815497">
                <a:moveTo>
                  <a:pt x="0" y="0"/>
                </a:moveTo>
                <a:lnTo>
                  <a:pt x="7616556" y="0"/>
                </a:lnTo>
                <a:lnTo>
                  <a:pt x="7616556" y="7815496"/>
                </a:lnTo>
                <a:lnTo>
                  <a:pt x="0" y="7815496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xmlns="" r:embed="rId8"/>
                </a:ext>
              </a:extLst>
            </a:blip>
            <a:stretch>
              <a:fillRect/>
            </a:stretch>
          </a:blipFill>
        </p:spPr>
      </p:sp>
      <p:sp>
        <p:nvSpPr>
          <p:cNvPr id="17" name="Freeform 17"/>
          <p:cNvSpPr/>
          <p:nvPr/>
        </p:nvSpPr>
        <p:spPr>
          <a:xfrm>
            <a:off x="6779762" y="5326817"/>
            <a:ext cx="4728476" cy="2609342"/>
          </a:xfrm>
          <a:custGeom>
            <a:avLst/>
            <a:gdLst/>
            <a:ahLst/>
            <a:cxnLst/>
            <a:rect l="l" t="t" r="r" b="b"/>
            <a:pathLst>
              <a:path w="4728476" h="2609342">
                <a:moveTo>
                  <a:pt x="0" y="0"/>
                </a:moveTo>
                <a:lnTo>
                  <a:pt x="4728476" y="0"/>
                </a:lnTo>
                <a:lnTo>
                  <a:pt x="4728476" y="2609342"/>
                </a:lnTo>
                <a:lnTo>
                  <a:pt x="0" y="2609342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-16286" r="-16286"/>
            </a:stretch>
          </a:blipFill>
        </p:spPr>
      </p:sp>
      <p:sp>
        <p:nvSpPr>
          <p:cNvPr id="18" name="Freeform 18"/>
          <p:cNvSpPr/>
          <p:nvPr/>
        </p:nvSpPr>
        <p:spPr>
          <a:xfrm>
            <a:off x="1028700" y="4991892"/>
            <a:ext cx="5648639" cy="3212663"/>
          </a:xfrm>
          <a:custGeom>
            <a:avLst/>
            <a:gdLst/>
            <a:ahLst/>
            <a:cxnLst/>
            <a:rect l="l" t="t" r="r" b="b"/>
            <a:pathLst>
              <a:path w="5648639" h="3212663">
                <a:moveTo>
                  <a:pt x="0" y="0"/>
                </a:moveTo>
                <a:lnTo>
                  <a:pt x="5648639" y="0"/>
                </a:lnTo>
                <a:lnTo>
                  <a:pt x="5648639" y="3212663"/>
                </a:lnTo>
                <a:lnTo>
                  <a:pt x="0" y="3212663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/>
            </a:stretch>
          </a:blipFill>
        </p:spPr>
      </p:sp>
      <p:sp>
        <p:nvSpPr>
          <p:cNvPr id="19" name="Freeform 19"/>
          <p:cNvSpPr/>
          <p:nvPr/>
        </p:nvSpPr>
        <p:spPr>
          <a:xfrm>
            <a:off x="12658717" y="5506671"/>
            <a:ext cx="4472064" cy="1783235"/>
          </a:xfrm>
          <a:custGeom>
            <a:avLst/>
            <a:gdLst/>
            <a:ahLst/>
            <a:cxnLst/>
            <a:rect l="l" t="t" r="r" b="b"/>
            <a:pathLst>
              <a:path w="4472064" h="1783235">
                <a:moveTo>
                  <a:pt x="0" y="0"/>
                </a:moveTo>
                <a:lnTo>
                  <a:pt x="4472064" y="0"/>
                </a:lnTo>
                <a:lnTo>
                  <a:pt x="4472064" y="1783235"/>
                </a:lnTo>
                <a:lnTo>
                  <a:pt x="0" y="1783235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/>
            </a:stretch>
          </a:blipFill>
        </p:spPr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4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2887170" y="1305982"/>
            <a:ext cx="13890932" cy="270897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241"/>
              </a:lnSpc>
            </a:pPr>
            <a:r>
              <a:rPr lang="en-US" sz="5247" b="1" spc="278">
                <a:solidFill>
                  <a:srgbClr val="231F20"/>
                </a:solidFill>
                <a:latin typeface="Oswald Bold"/>
                <a:ea typeface="Oswald Bold"/>
                <a:cs typeface="Oswald Bold"/>
                <a:sym typeface="Oswald Bold"/>
              </a:rPr>
              <a:t>ARCHITECTURE OF THE SEMANTIC SEARCH ENGINE</a:t>
            </a:r>
          </a:p>
          <a:p>
            <a:pPr algn="ctr">
              <a:lnSpc>
                <a:spcPts val="7241"/>
              </a:lnSpc>
            </a:pPr>
            <a:endParaRPr lang="en-US" sz="5247" b="1" spc="278">
              <a:solidFill>
                <a:srgbClr val="231F20"/>
              </a:solidFill>
              <a:latin typeface="Oswald Bold"/>
              <a:ea typeface="Oswald Bold"/>
              <a:cs typeface="Oswald Bold"/>
              <a:sym typeface="Oswald Bold"/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22336" y="3086100"/>
            <a:ext cx="12420600" cy="62103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4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2421286" y="4237519"/>
            <a:ext cx="13887518" cy="2256722"/>
          </a:xfrm>
          <a:custGeom>
            <a:avLst/>
            <a:gdLst/>
            <a:ahLst/>
            <a:cxnLst/>
            <a:rect l="l" t="t" r="r" b="b"/>
            <a:pathLst>
              <a:path w="13887518" h="2256722">
                <a:moveTo>
                  <a:pt x="0" y="0"/>
                </a:moveTo>
                <a:lnTo>
                  <a:pt x="13887518" y="0"/>
                </a:lnTo>
                <a:lnTo>
                  <a:pt x="13887518" y="2256722"/>
                </a:lnTo>
                <a:lnTo>
                  <a:pt x="0" y="225672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693057" y="7876227"/>
            <a:ext cx="8042996" cy="1642189"/>
          </a:xfrm>
          <a:custGeom>
            <a:avLst/>
            <a:gdLst/>
            <a:ahLst/>
            <a:cxnLst/>
            <a:rect l="l" t="t" r="r" b="b"/>
            <a:pathLst>
              <a:path w="8042996" h="1642189">
                <a:moveTo>
                  <a:pt x="0" y="0"/>
                </a:moveTo>
                <a:lnTo>
                  <a:pt x="8042995" y="0"/>
                </a:lnTo>
                <a:lnTo>
                  <a:pt x="8042995" y="1642189"/>
                </a:lnTo>
                <a:lnTo>
                  <a:pt x="0" y="164218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9144000" y="7963438"/>
            <a:ext cx="8449582" cy="733884"/>
          </a:xfrm>
          <a:custGeom>
            <a:avLst/>
            <a:gdLst/>
            <a:ahLst/>
            <a:cxnLst/>
            <a:rect l="l" t="t" r="r" b="b"/>
            <a:pathLst>
              <a:path w="8449582" h="733884">
                <a:moveTo>
                  <a:pt x="0" y="0"/>
                </a:moveTo>
                <a:lnTo>
                  <a:pt x="8449582" y="0"/>
                </a:lnTo>
                <a:lnTo>
                  <a:pt x="8449582" y="733883"/>
                </a:lnTo>
                <a:lnTo>
                  <a:pt x="0" y="733883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5" name="TextBox 5"/>
          <p:cNvSpPr txBox="1"/>
          <p:nvPr/>
        </p:nvSpPr>
        <p:spPr>
          <a:xfrm>
            <a:off x="2887170" y="1305982"/>
            <a:ext cx="12955750" cy="88017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241"/>
              </a:lnSpc>
            </a:pPr>
            <a:r>
              <a:rPr lang="en-US" sz="5247" b="1" spc="278" dirty="0">
                <a:solidFill>
                  <a:srgbClr val="231F20"/>
                </a:solidFill>
                <a:latin typeface="Oswald Bold"/>
                <a:ea typeface="Oswald Bold"/>
                <a:cs typeface="Oswald Bold"/>
                <a:sym typeface="Oswald Bold"/>
              </a:rPr>
              <a:t>DATA PRE-PROCESSING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64065" y="2815969"/>
            <a:ext cx="9300980" cy="64120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5033"/>
              </a:lnSpc>
              <a:spcBef>
                <a:spcPct val="0"/>
              </a:spcBef>
            </a:pPr>
            <a:r>
              <a:rPr lang="en-US" sz="3647" b="1" spc="193">
                <a:solidFill>
                  <a:srgbClr val="000000"/>
                </a:solidFill>
                <a:latin typeface="Oswald Bold"/>
                <a:ea typeface="Oswald Bold"/>
                <a:cs typeface="Oswald Bold"/>
                <a:sym typeface="Oswald Bold"/>
              </a:rPr>
              <a:t>DATASET USED : DARAZ LAPTOP DATA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062220" y="3609108"/>
            <a:ext cx="6143765" cy="42838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41999" lvl="1" indent="-270999" algn="l">
              <a:lnSpc>
                <a:spcPts val="3464"/>
              </a:lnSpc>
              <a:buFont typeface="Arial"/>
              <a:buChar char="•"/>
            </a:pPr>
            <a:r>
              <a:rPr lang="en-US" sz="2510" b="1" spc="246" dirty="0">
                <a:solidFill>
                  <a:srgbClr val="231F20"/>
                </a:solidFill>
                <a:latin typeface="DM Sans Bold"/>
                <a:ea typeface="DM Sans Bold"/>
                <a:cs typeface="DM Sans Bold"/>
                <a:sym typeface="DM Sans Bold"/>
              </a:rPr>
              <a:t>600 record of laptops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2421286" y="7141941"/>
            <a:ext cx="5046314" cy="64120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5033"/>
              </a:lnSpc>
              <a:spcBef>
                <a:spcPct val="0"/>
              </a:spcBef>
            </a:pPr>
            <a:r>
              <a:rPr lang="en-US" sz="3647" b="1" spc="193" dirty="0">
                <a:solidFill>
                  <a:srgbClr val="000000"/>
                </a:solidFill>
                <a:latin typeface="Oswald Bold"/>
                <a:ea typeface="Oswald Bold"/>
                <a:cs typeface="Oswald Bold"/>
                <a:sym typeface="Oswald Bold"/>
              </a:rPr>
              <a:t>UN-CLEANED DATA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2175050" y="7141941"/>
            <a:ext cx="3979349" cy="64120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5033"/>
              </a:lnSpc>
              <a:spcBef>
                <a:spcPct val="0"/>
              </a:spcBef>
            </a:pPr>
            <a:r>
              <a:rPr lang="en-US" sz="3647" b="1" spc="193" dirty="0">
                <a:solidFill>
                  <a:srgbClr val="000000"/>
                </a:solidFill>
                <a:latin typeface="Oswald Bold"/>
                <a:ea typeface="Oswald Bold"/>
                <a:cs typeface="Oswald Bold"/>
                <a:sym typeface="Oswald Bold"/>
              </a:rPr>
              <a:t>CLEANED DATA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4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2887170" y="1305982"/>
            <a:ext cx="13761045" cy="8125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241"/>
              </a:lnSpc>
            </a:pPr>
            <a:r>
              <a:rPr lang="en-US" sz="4000" b="1" spc="278" dirty="0">
                <a:solidFill>
                  <a:srgbClr val="231F20"/>
                </a:solidFill>
                <a:latin typeface="Oswald Bold"/>
                <a:ea typeface="Oswald Bold"/>
                <a:cs typeface="Oswald Bold"/>
                <a:sym typeface="Oswald Bold"/>
              </a:rPr>
              <a:t>VECTORIZATION USING BERT SENTENCE TRANSFORMER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1676400" y="4152900"/>
            <a:ext cx="7543800" cy="387285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2896"/>
              </a:lnSpc>
            </a:pPr>
            <a:r>
              <a:rPr lang="en-US" sz="2400" b="1" u="sng" spc="111" dirty="0">
                <a:solidFill>
                  <a:srgbClr val="231F20"/>
                </a:solidFill>
                <a:latin typeface="DM Sans Bold"/>
                <a:ea typeface="DM Sans Bold"/>
                <a:cs typeface="DM Sans Bold"/>
                <a:sym typeface="DM Sans Bold"/>
              </a:rPr>
              <a:t>WHAT IS VECTORIZATION</a:t>
            </a:r>
            <a:r>
              <a:rPr lang="en-US" sz="2400" b="1" u="sng" spc="111" dirty="0" smtClean="0">
                <a:solidFill>
                  <a:srgbClr val="231F20"/>
                </a:solidFill>
                <a:latin typeface="DM Sans Bold"/>
                <a:ea typeface="DM Sans Bold"/>
                <a:cs typeface="DM Sans Bold"/>
                <a:sym typeface="DM Sans Bold"/>
              </a:rPr>
              <a:t>?</a:t>
            </a:r>
          </a:p>
          <a:p>
            <a:pPr algn="l">
              <a:lnSpc>
                <a:spcPts val="2896"/>
              </a:lnSpc>
            </a:pPr>
            <a:endParaRPr lang="en-US" sz="2400" spc="111" dirty="0">
              <a:solidFill>
                <a:srgbClr val="231F20"/>
              </a:solidFill>
              <a:latin typeface="DM Sans Bold"/>
              <a:ea typeface="DM Sans Bold"/>
              <a:cs typeface="DM Sans Bold"/>
              <a:sym typeface="DM Sans Bold"/>
            </a:endParaRPr>
          </a:p>
          <a:p>
            <a:pPr marL="383350" lvl="1" indent="-191675" algn="l">
              <a:lnSpc>
                <a:spcPts val="2450"/>
              </a:lnSpc>
              <a:buFont typeface="Arial"/>
              <a:buChar char="•"/>
            </a:pPr>
            <a:r>
              <a:rPr lang="en-US" sz="2400" spc="94" dirty="0">
                <a:solidFill>
                  <a:srgbClr val="231F20"/>
                </a:solidFill>
                <a:latin typeface="DM Sans"/>
                <a:ea typeface="DM Sans"/>
                <a:cs typeface="DM Sans"/>
                <a:sym typeface="DM Sans"/>
              </a:rPr>
              <a:t>Vectorization is the process of converting textual data (queries and documents) into numerical representations called embeddings.</a:t>
            </a:r>
          </a:p>
          <a:p>
            <a:pPr marL="383350" lvl="1" indent="-191675" algn="l">
              <a:lnSpc>
                <a:spcPts val="2450"/>
              </a:lnSpc>
              <a:buFont typeface="Arial"/>
              <a:buChar char="•"/>
            </a:pPr>
            <a:endParaRPr lang="en-US" sz="2400" spc="94" dirty="0">
              <a:solidFill>
                <a:srgbClr val="231F20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marL="355444" lvl="1" indent="-177722" algn="l">
              <a:lnSpc>
                <a:spcPts val="2271"/>
              </a:lnSpc>
              <a:buFont typeface="Arial"/>
              <a:buChar char="•"/>
            </a:pPr>
            <a:r>
              <a:rPr lang="en-US" sz="2400" spc="87" dirty="0">
                <a:solidFill>
                  <a:srgbClr val="231F20"/>
                </a:solidFill>
                <a:latin typeface="DM Sans"/>
                <a:ea typeface="DM Sans"/>
                <a:cs typeface="DM Sans"/>
                <a:sym typeface="DM Sans"/>
              </a:rPr>
              <a:t>These embeddings are high-dimensional vectors that capture the semantic meaning of text, allowing the search engine to perform similarity comparisons between queries and documents.</a:t>
            </a:r>
          </a:p>
          <a:p>
            <a:pPr algn="l">
              <a:lnSpc>
                <a:spcPts val="2896"/>
              </a:lnSpc>
              <a:spcBef>
                <a:spcPct val="0"/>
              </a:spcBef>
            </a:pPr>
            <a:endParaRPr lang="en-US" sz="2400" spc="87" dirty="0">
              <a:solidFill>
                <a:srgbClr val="231F20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48800" y="4125686"/>
            <a:ext cx="8153400" cy="3859364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4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2887170" y="1305982"/>
            <a:ext cx="13761045" cy="8125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241"/>
              </a:lnSpc>
            </a:pPr>
            <a:r>
              <a:rPr lang="en-US" sz="4000" b="1" spc="278" dirty="0">
                <a:solidFill>
                  <a:srgbClr val="231F20"/>
                </a:solidFill>
                <a:latin typeface="Oswald Bold"/>
                <a:ea typeface="Oswald Bold"/>
                <a:cs typeface="Oswald Bold"/>
                <a:sym typeface="Oswald Bold"/>
              </a:rPr>
              <a:t>VECTORIZATION USING BERT SENTENCE TRANSFORMER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1600200" y="2831960"/>
            <a:ext cx="7543800" cy="743793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2896"/>
              </a:lnSpc>
            </a:pPr>
            <a:r>
              <a:rPr lang="en-US" sz="2400" b="1" u="sng" dirty="0"/>
              <a:t>Why Use BERT Sentence Transformer</a:t>
            </a:r>
            <a:r>
              <a:rPr lang="en-US" sz="2400" b="1" u="sng" spc="111" dirty="0" smtClean="0">
                <a:solidFill>
                  <a:srgbClr val="231F20"/>
                </a:solidFill>
                <a:latin typeface="DM Sans Bold"/>
                <a:ea typeface="DM Sans Bold"/>
                <a:cs typeface="DM Sans Bold"/>
                <a:sym typeface="DM Sans Bold"/>
              </a:rPr>
              <a:t>?</a:t>
            </a:r>
          </a:p>
          <a:p>
            <a:pPr algn="l">
              <a:lnSpc>
                <a:spcPts val="2896"/>
              </a:lnSpc>
            </a:pPr>
            <a:endParaRPr lang="en-US" sz="2400" spc="111" dirty="0">
              <a:solidFill>
                <a:srgbClr val="231F20"/>
              </a:solidFill>
              <a:latin typeface="DM Sans Bold"/>
              <a:ea typeface="DM Sans Bold"/>
              <a:cs typeface="DM Sans Bold"/>
              <a:sym typeface="DM Sans Bold"/>
            </a:endParaRPr>
          </a:p>
          <a:p>
            <a:pPr marL="342900" indent="-342900">
              <a:lnSpc>
                <a:spcPts val="2896"/>
              </a:lnSpc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en-US" sz="2400" dirty="0"/>
              <a:t>The </a:t>
            </a:r>
            <a:r>
              <a:rPr lang="en-US" sz="2400" b="1" dirty="0"/>
              <a:t>BERT Sentence Transformer</a:t>
            </a:r>
            <a:r>
              <a:rPr lang="en-US" sz="2400" dirty="0"/>
              <a:t> model is a powerful NLP model that understands the context of words within a sentence, producing embeddings that reflect deeper meanings and relationships</a:t>
            </a:r>
            <a:r>
              <a:rPr lang="en-US" sz="2400" dirty="0" smtClean="0"/>
              <a:t>.</a:t>
            </a:r>
          </a:p>
          <a:p>
            <a:pPr>
              <a:lnSpc>
                <a:spcPts val="2896"/>
              </a:lnSpc>
              <a:spcBef>
                <a:spcPct val="0"/>
              </a:spcBef>
            </a:pPr>
            <a:endParaRPr lang="en-US" sz="2400" spc="87" dirty="0" smtClean="0">
              <a:solidFill>
                <a:srgbClr val="231F20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marL="342900" indent="-342900">
              <a:lnSpc>
                <a:spcPts val="2896"/>
              </a:lnSpc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en-US" sz="2400" b="1" spc="87" dirty="0">
                <a:solidFill>
                  <a:srgbClr val="231F20"/>
                </a:solidFill>
                <a:ea typeface="DM Sans"/>
                <a:cs typeface="DM Sans"/>
                <a:sym typeface="DM Sans"/>
              </a:rPr>
              <a:t>Contextual Understanding: </a:t>
            </a:r>
            <a:r>
              <a:rPr lang="en-US" sz="2400" spc="87" dirty="0">
                <a:solidFill>
                  <a:srgbClr val="231F20"/>
                </a:solidFill>
                <a:ea typeface="DM Sans"/>
                <a:cs typeface="DM Sans"/>
                <a:sym typeface="DM Sans"/>
              </a:rPr>
              <a:t>Unlike traditional word embeddings (like </a:t>
            </a:r>
            <a:r>
              <a:rPr lang="en-US" sz="2400" spc="87" dirty="0" err="1">
                <a:solidFill>
                  <a:srgbClr val="231F20"/>
                </a:solidFill>
                <a:ea typeface="DM Sans"/>
                <a:cs typeface="DM Sans"/>
                <a:sym typeface="DM Sans"/>
              </a:rPr>
              <a:t>Word2Vec</a:t>
            </a:r>
            <a:r>
              <a:rPr lang="en-US" sz="2400" spc="87" dirty="0">
                <a:solidFill>
                  <a:srgbClr val="231F20"/>
                </a:solidFill>
                <a:ea typeface="DM Sans"/>
                <a:cs typeface="DM Sans"/>
                <a:sym typeface="DM Sans"/>
              </a:rPr>
              <a:t>), BERT takes into account the entire sentence structure, improving accuracy for complex queries</a:t>
            </a:r>
            <a:r>
              <a:rPr lang="en-US" sz="2400" spc="87" dirty="0" smtClean="0">
                <a:solidFill>
                  <a:srgbClr val="231F20"/>
                </a:solidFill>
                <a:ea typeface="DM Sans"/>
                <a:cs typeface="DM Sans"/>
                <a:sym typeface="DM Sans"/>
              </a:rPr>
              <a:t>.</a:t>
            </a:r>
          </a:p>
          <a:p>
            <a:pPr marL="342900" indent="-342900">
              <a:lnSpc>
                <a:spcPts val="2896"/>
              </a:lnSpc>
              <a:spcBef>
                <a:spcPct val="0"/>
              </a:spcBef>
              <a:buFont typeface="Arial" panose="020B0604020202020204" pitchFamily="34" charset="0"/>
              <a:buChar char="•"/>
            </a:pPr>
            <a:endParaRPr lang="en-US" sz="2400" spc="87" dirty="0">
              <a:solidFill>
                <a:srgbClr val="231F20"/>
              </a:solidFill>
              <a:ea typeface="DM Sans"/>
              <a:cs typeface="DM Sans"/>
              <a:sym typeface="DM Sans"/>
            </a:endParaRPr>
          </a:p>
          <a:p>
            <a:pPr marL="342900" indent="-342900">
              <a:lnSpc>
                <a:spcPts val="2896"/>
              </a:lnSpc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en-US" sz="2400" b="1" spc="87" dirty="0" smtClean="0">
                <a:solidFill>
                  <a:srgbClr val="231F20"/>
                </a:solidFill>
                <a:ea typeface="DM Sans"/>
                <a:cs typeface="DM Sans"/>
                <a:sym typeface="DM Sans"/>
              </a:rPr>
              <a:t>Rich </a:t>
            </a:r>
            <a:r>
              <a:rPr lang="en-US" sz="2400" b="1" spc="87" dirty="0">
                <a:solidFill>
                  <a:srgbClr val="231F20"/>
                </a:solidFill>
                <a:ea typeface="DM Sans"/>
                <a:cs typeface="DM Sans"/>
                <a:sym typeface="DM Sans"/>
              </a:rPr>
              <a:t>Semantic Representation: </a:t>
            </a:r>
            <a:r>
              <a:rPr lang="en-US" sz="2400" spc="87" dirty="0">
                <a:solidFill>
                  <a:srgbClr val="231F20"/>
                </a:solidFill>
                <a:ea typeface="DM Sans"/>
                <a:cs typeface="DM Sans"/>
                <a:sym typeface="DM Sans"/>
              </a:rPr>
              <a:t>Captures relationships between words, enhancing search relevance</a:t>
            </a:r>
            <a:r>
              <a:rPr lang="en-US" sz="2400" spc="87" dirty="0" smtClean="0">
                <a:solidFill>
                  <a:srgbClr val="231F20"/>
                </a:solidFill>
                <a:ea typeface="DM Sans"/>
                <a:cs typeface="DM Sans"/>
                <a:sym typeface="DM Sans"/>
              </a:rPr>
              <a:t>.</a:t>
            </a:r>
          </a:p>
          <a:p>
            <a:pPr marL="342900" indent="-342900">
              <a:lnSpc>
                <a:spcPts val="2896"/>
              </a:lnSpc>
              <a:spcBef>
                <a:spcPct val="0"/>
              </a:spcBef>
              <a:buFont typeface="Arial" panose="020B0604020202020204" pitchFamily="34" charset="0"/>
              <a:buChar char="•"/>
            </a:pPr>
            <a:endParaRPr lang="en-US" sz="2400" spc="87" dirty="0">
              <a:solidFill>
                <a:srgbClr val="231F20"/>
              </a:solidFill>
              <a:ea typeface="DM Sans"/>
              <a:cs typeface="DM Sans"/>
              <a:sym typeface="DM Sans"/>
            </a:endParaRPr>
          </a:p>
          <a:p>
            <a:pPr marL="342900" indent="-342900">
              <a:lnSpc>
                <a:spcPts val="2896"/>
              </a:lnSpc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en-US" sz="2400" b="1" spc="87" dirty="0" smtClean="0">
                <a:solidFill>
                  <a:srgbClr val="231F20"/>
                </a:solidFill>
                <a:ea typeface="DM Sans"/>
                <a:cs typeface="DM Sans"/>
                <a:sym typeface="DM Sans"/>
              </a:rPr>
              <a:t>Performance</a:t>
            </a:r>
            <a:r>
              <a:rPr lang="en-US" sz="2400" b="1" spc="87" dirty="0">
                <a:solidFill>
                  <a:srgbClr val="231F20"/>
                </a:solidFill>
                <a:ea typeface="DM Sans"/>
                <a:cs typeface="DM Sans"/>
                <a:sym typeface="DM Sans"/>
              </a:rPr>
              <a:t>: </a:t>
            </a:r>
            <a:r>
              <a:rPr lang="en-US" sz="2400" spc="87" dirty="0">
                <a:solidFill>
                  <a:srgbClr val="231F20"/>
                </a:solidFill>
                <a:ea typeface="DM Sans"/>
                <a:cs typeface="DM Sans"/>
                <a:sym typeface="DM Sans"/>
              </a:rPr>
              <a:t>Provides better generalization for unseen data, making it suitable for a wide range of search applications</a:t>
            </a:r>
            <a:endParaRPr lang="en-US" sz="2400" spc="87" dirty="0">
              <a:solidFill>
                <a:srgbClr val="231F20"/>
              </a:solidFill>
              <a:ea typeface="DM Sans"/>
              <a:cs typeface="DM Sans"/>
              <a:sym typeface="DM Sans"/>
            </a:endParaRPr>
          </a:p>
          <a:p>
            <a:pPr>
              <a:lnSpc>
                <a:spcPts val="2896"/>
              </a:lnSpc>
              <a:spcBef>
                <a:spcPct val="0"/>
              </a:spcBef>
            </a:pPr>
            <a:endParaRPr lang="en-US" sz="2400" spc="87" dirty="0">
              <a:solidFill>
                <a:srgbClr val="231F20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01200" y="4533900"/>
            <a:ext cx="8201932" cy="30575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4062798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4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2887170" y="1305982"/>
            <a:ext cx="12955750" cy="9233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241"/>
              </a:lnSpc>
            </a:pPr>
            <a:r>
              <a:rPr lang="en-US" sz="4800" b="1" dirty="0"/>
              <a:t>Index in </a:t>
            </a:r>
            <a:r>
              <a:rPr lang="en-US" sz="4800" b="1" dirty="0" smtClean="0"/>
              <a:t>Elastic search </a:t>
            </a:r>
            <a:r>
              <a:rPr lang="en-US" sz="4800" b="1" dirty="0"/>
              <a:t>and Ingesting Data</a:t>
            </a:r>
            <a:endParaRPr lang="en-US" sz="4800" b="1" spc="278" dirty="0">
              <a:solidFill>
                <a:srgbClr val="231F20"/>
              </a:solidFill>
              <a:latin typeface="Oswald Bold"/>
              <a:ea typeface="Oswald Bold"/>
              <a:cs typeface="Oswald Bold"/>
              <a:sym typeface="Oswald Bold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3429000" y="3009900"/>
            <a:ext cx="10828830" cy="50783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u="sng" dirty="0"/>
              <a:t>Creating the </a:t>
            </a:r>
            <a:r>
              <a:rPr lang="en-US" sz="2800" b="1" u="sng" dirty="0" smtClean="0"/>
              <a:t>Index:</a:t>
            </a:r>
            <a:endParaRPr lang="en-US" sz="2800" b="1" u="sng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 smtClean="0"/>
              <a:t>Indexing </a:t>
            </a:r>
            <a:r>
              <a:rPr lang="en-US" sz="2400" dirty="0"/>
              <a:t>involves organizing the data to make it searchable by storing and managing documents in a way that allows for quick </a:t>
            </a:r>
            <a:r>
              <a:rPr lang="en-US" sz="2400" dirty="0" smtClean="0"/>
              <a:t>retrieval.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 smtClean="0"/>
              <a:t>The </a:t>
            </a:r>
            <a:r>
              <a:rPr lang="en-US" sz="2400" dirty="0"/>
              <a:t>index contains mappings that define the structure of the stored data, including the field types and vector representation</a:t>
            </a:r>
            <a:r>
              <a:rPr lang="en-US" sz="2400" dirty="0" smtClean="0"/>
              <a:t>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400" dirty="0"/>
          </a:p>
          <a:p>
            <a:r>
              <a:rPr lang="en-US" sz="2800" b="1" u="sng" dirty="0" smtClean="0"/>
              <a:t>Ingesting </a:t>
            </a:r>
            <a:r>
              <a:rPr lang="en-US" sz="2800" b="1" u="sng" dirty="0"/>
              <a:t>Data into the Index</a:t>
            </a:r>
            <a:r>
              <a:rPr lang="en-US" sz="2800" b="1" u="sng" dirty="0" smtClean="0"/>
              <a:t>:</a:t>
            </a:r>
          </a:p>
          <a:p>
            <a:r>
              <a:rPr lang="en-US" sz="2400" dirty="0" smtClean="0"/>
              <a:t>Once</a:t>
            </a:r>
            <a:r>
              <a:rPr lang="en-US" sz="2800" dirty="0" smtClean="0"/>
              <a:t> </a:t>
            </a:r>
            <a:r>
              <a:rPr lang="en-US" sz="2400" dirty="0"/>
              <a:t>the index is created, we ingest the data, which </a:t>
            </a:r>
            <a:r>
              <a:rPr lang="en-US" sz="2400" dirty="0" smtClean="0"/>
              <a:t>includes 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 smtClean="0"/>
              <a:t>Text </a:t>
            </a:r>
            <a:r>
              <a:rPr lang="en-US" sz="2400" dirty="0"/>
              <a:t>documents that will be searchable</a:t>
            </a:r>
            <a:r>
              <a:rPr lang="en-US" sz="2400" dirty="0" smtClean="0"/>
              <a:t>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 smtClean="0"/>
              <a:t>Vector </a:t>
            </a:r>
            <a:r>
              <a:rPr lang="en-US" sz="2400" dirty="0"/>
              <a:t>embeddings generated using the BERT Sentence Transformer, which are added to the index to enable semantic search</a:t>
            </a:r>
            <a:r>
              <a:rPr lang="en-US" sz="2400" dirty="0" smtClean="0"/>
              <a:t>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 smtClean="0"/>
              <a:t>The </a:t>
            </a:r>
            <a:r>
              <a:rPr lang="en-US" sz="2400" dirty="0"/>
              <a:t>ingestion process involves sending these vectors and their corresponding metadata (e.g., document ID, title) to the </a:t>
            </a:r>
            <a:r>
              <a:rPr lang="en-US" sz="2400" dirty="0" err="1"/>
              <a:t>Elasticsearch</a:t>
            </a:r>
            <a:r>
              <a:rPr lang="en-US" sz="2400" dirty="0"/>
              <a:t> index.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4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2887170" y="1305982"/>
            <a:ext cx="12955750" cy="88017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241"/>
              </a:lnSpc>
            </a:pPr>
            <a:r>
              <a:rPr lang="en-US" sz="5247" b="1" spc="278" dirty="0">
                <a:solidFill>
                  <a:srgbClr val="231F20"/>
                </a:solidFill>
                <a:latin typeface="Oswald Bold"/>
                <a:ea typeface="Oswald Bold"/>
                <a:cs typeface="Oswald Bold"/>
                <a:sym typeface="Oswald Bold"/>
              </a:rPr>
              <a:t>SIMILARITY METRICS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524000" y="2816810"/>
            <a:ext cx="10896600" cy="52629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Similarity metrics are mathematical measures used to determine how similar two vectors (representations of text) are to one another</a:t>
            </a:r>
            <a:r>
              <a:rPr lang="en-US" sz="2400" dirty="0" smtClean="0"/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4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 smtClean="0"/>
              <a:t>In </a:t>
            </a:r>
            <a:r>
              <a:rPr lang="en-US" sz="2400" dirty="0"/>
              <a:t>a semantic search engine, these metrics play a crucial role in ranking documents by comparing the vector embedding of a query with the vector embeddings of documents</a:t>
            </a:r>
            <a:r>
              <a:rPr lang="en-US" sz="2400" dirty="0" smtClean="0"/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4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 smtClean="0"/>
              <a:t>Similarity metrics : Cosine Similarity , </a:t>
            </a:r>
            <a:r>
              <a:rPr lang="en-US" sz="2400" dirty="0" err="1" smtClean="0"/>
              <a:t>L2</a:t>
            </a:r>
            <a:r>
              <a:rPr lang="en-US" sz="2400" dirty="0" smtClean="0"/>
              <a:t> Norm, Dot Product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400" dirty="0"/>
          </a:p>
          <a:p>
            <a:r>
              <a:rPr lang="en-US" sz="2400" b="1" dirty="0"/>
              <a:t>Euclidean Distance (</a:t>
            </a:r>
            <a:r>
              <a:rPr lang="en-US" sz="2400" b="1" dirty="0" err="1"/>
              <a:t>L2</a:t>
            </a:r>
            <a:r>
              <a:rPr lang="en-US" sz="2400" b="1" dirty="0"/>
              <a:t> </a:t>
            </a:r>
            <a:r>
              <a:rPr lang="en-US" sz="2400" b="1" dirty="0" smtClean="0"/>
              <a:t>Norm)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T</a:t>
            </a:r>
            <a:r>
              <a:rPr lang="en-US" sz="2400" dirty="0" smtClean="0"/>
              <a:t>his </a:t>
            </a:r>
            <a:r>
              <a:rPr lang="en-US" sz="2400" dirty="0"/>
              <a:t>metric calculates the straight-line distance between two vectors in space.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It’s particularly useful for measuring how "far apart" two vectors are in a multi-dimensional </a:t>
            </a:r>
            <a:r>
              <a:rPr lang="en-US" sz="2400" dirty="0" smtClean="0"/>
              <a:t>space.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400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106400" y="6515100"/>
            <a:ext cx="4148015" cy="1720985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3598359" y="6010930"/>
            <a:ext cx="316409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 smtClean="0"/>
              <a:t>Formula : </a:t>
            </a:r>
            <a:r>
              <a:rPr lang="en-US" sz="2800" b="1" dirty="0" err="1" smtClean="0"/>
              <a:t>L2</a:t>
            </a:r>
            <a:r>
              <a:rPr lang="en-US" sz="2800" b="1" dirty="0" smtClean="0"/>
              <a:t> Norm</a:t>
            </a:r>
            <a:endParaRPr lang="en-US" sz="2800" b="1" dirty="0"/>
          </a:p>
        </p:txBody>
      </p:sp>
    </p:spTree>
    <p:extLst>
      <p:ext uri="{BB962C8B-B14F-4D97-AF65-F5344CB8AC3E}">
        <p14:creationId xmlns:p14="http://schemas.microsoft.com/office/powerpoint/2010/main" val="253537120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4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2887170" y="1305982"/>
            <a:ext cx="12955750" cy="84997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241"/>
              </a:lnSpc>
            </a:pPr>
            <a:r>
              <a:rPr lang="en-US" sz="5247" b="1" spc="278" dirty="0" smtClean="0">
                <a:solidFill>
                  <a:srgbClr val="231F20"/>
                </a:solidFill>
                <a:latin typeface="Oswald Bold"/>
                <a:ea typeface="Oswald Bold"/>
                <a:cs typeface="Oswald Bold"/>
                <a:sym typeface="Oswald Bold"/>
              </a:rPr>
              <a:t>GENERATING SEARCH </a:t>
            </a:r>
            <a:r>
              <a:rPr lang="en-US" sz="5247" b="1" spc="278" dirty="0">
                <a:solidFill>
                  <a:srgbClr val="231F20"/>
                </a:solidFill>
                <a:latin typeface="Oswald Bold"/>
                <a:ea typeface="Oswald Bold"/>
                <a:cs typeface="Oswald Bold"/>
                <a:sym typeface="Oswald Bold"/>
              </a:rPr>
              <a:t>QUERY</a:t>
            </a:r>
          </a:p>
        </p:txBody>
      </p:sp>
      <p:grpSp>
        <p:nvGrpSpPr>
          <p:cNvPr id="19" name="Group 18"/>
          <p:cNvGrpSpPr/>
          <p:nvPr/>
        </p:nvGrpSpPr>
        <p:grpSpPr>
          <a:xfrm>
            <a:off x="2743200" y="4591773"/>
            <a:ext cx="2667000" cy="1191752"/>
            <a:chOff x="2362200" y="4027948"/>
            <a:chExt cx="2667000" cy="1191752"/>
          </a:xfrm>
        </p:grpSpPr>
        <p:sp>
          <p:nvSpPr>
            <p:cNvPr id="7" name="Rounded Rectangle 6"/>
            <p:cNvSpPr/>
            <p:nvPr/>
          </p:nvSpPr>
          <p:spPr>
            <a:xfrm>
              <a:off x="2362200" y="4027948"/>
              <a:ext cx="2667000" cy="1191752"/>
            </a:xfrm>
            <a:prstGeom prst="round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" name="TextBox 7"/>
            <p:cNvSpPr txBox="1"/>
            <p:nvPr/>
          </p:nvSpPr>
          <p:spPr>
            <a:xfrm>
              <a:off x="2510385" y="4348490"/>
              <a:ext cx="2294430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b="1" dirty="0" smtClean="0"/>
                <a:t>Input Keyword</a:t>
              </a:r>
              <a:endParaRPr lang="en-US" sz="2400" b="1" dirty="0"/>
            </a:p>
          </p:txBody>
        </p:sp>
      </p:grpSp>
      <p:grpSp>
        <p:nvGrpSpPr>
          <p:cNvPr id="20" name="Group 19"/>
          <p:cNvGrpSpPr/>
          <p:nvPr/>
        </p:nvGrpSpPr>
        <p:grpSpPr>
          <a:xfrm>
            <a:off x="7010400" y="4591773"/>
            <a:ext cx="3009900" cy="1191752"/>
            <a:chOff x="7010400" y="4014224"/>
            <a:chExt cx="3009900" cy="1191752"/>
          </a:xfrm>
        </p:grpSpPr>
        <p:sp>
          <p:nvSpPr>
            <p:cNvPr id="10" name="Rounded Rectangle 9"/>
            <p:cNvSpPr/>
            <p:nvPr/>
          </p:nvSpPr>
          <p:spPr>
            <a:xfrm>
              <a:off x="7010400" y="4014224"/>
              <a:ext cx="2667000" cy="1191752"/>
            </a:xfrm>
            <a:prstGeom prst="round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7543800" y="4209814"/>
              <a:ext cx="2476500" cy="8309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b="1" dirty="0" smtClean="0"/>
                <a:t>Sentence Transformer</a:t>
              </a:r>
              <a:endParaRPr lang="en-US" sz="2400" b="1" dirty="0"/>
            </a:p>
          </p:txBody>
        </p:sp>
      </p:grpSp>
      <p:sp>
        <p:nvSpPr>
          <p:cNvPr id="13" name="TextBox 12"/>
          <p:cNvSpPr txBox="1"/>
          <p:nvPr/>
        </p:nvSpPr>
        <p:spPr>
          <a:xfrm>
            <a:off x="9886950" y="4678565"/>
            <a:ext cx="2133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vector </a:t>
            </a:r>
            <a:r>
              <a:rPr lang="en-US" b="1" dirty="0" smtClean="0"/>
              <a:t>embedding</a:t>
            </a:r>
            <a:endParaRPr lang="en-US" b="1" dirty="0"/>
          </a:p>
        </p:txBody>
      </p:sp>
      <p:grpSp>
        <p:nvGrpSpPr>
          <p:cNvPr id="21" name="Group 20"/>
          <p:cNvGrpSpPr/>
          <p:nvPr/>
        </p:nvGrpSpPr>
        <p:grpSpPr>
          <a:xfrm>
            <a:off x="11982450" y="4682854"/>
            <a:ext cx="2667000" cy="1191752"/>
            <a:chOff x="11220450" y="4214279"/>
            <a:chExt cx="2667000" cy="1191752"/>
          </a:xfrm>
        </p:grpSpPr>
        <p:sp>
          <p:nvSpPr>
            <p:cNvPr id="14" name="Rounded Rectangle 13"/>
            <p:cNvSpPr/>
            <p:nvPr/>
          </p:nvSpPr>
          <p:spPr>
            <a:xfrm>
              <a:off x="11220450" y="4214279"/>
              <a:ext cx="2667000" cy="1191752"/>
            </a:xfrm>
            <a:prstGeom prst="round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TextBox 14"/>
            <p:cNvSpPr txBox="1"/>
            <p:nvPr/>
          </p:nvSpPr>
          <p:spPr>
            <a:xfrm>
              <a:off x="11468100" y="4348490"/>
              <a:ext cx="2362200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b="1" dirty="0" smtClean="0"/>
                <a:t>Search </a:t>
              </a:r>
              <a:r>
                <a:rPr lang="en-US" sz="2400" b="1" spc="278" dirty="0" smtClean="0">
                  <a:solidFill>
                    <a:srgbClr val="231F20"/>
                  </a:solidFill>
                  <a:ea typeface="Oswald Bold"/>
                  <a:cs typeface="Oswald Bold"/>
                  <a:sym typeface="Oswald Bold"/>
                </a:rPr>
                <a:t>Query </a:t>
              </a:r>
              <a:r>
                <a:rPr lang="en-US" sz="2400" b="1" dirty="0" smtClean="0"/>
                <a:t> </a:t>
              </a:r>
              <a:endParaRPr lang="en-US" sz="2400" b="1" dirty="0"/>
            </a:p>
          </p:txBody>
        </p:sp>
      </p:grpSp>
      <p:grpSp>
        <p:nvGrpSpPr>
          <p:cNvPr id="22" name="Group 21"/>
          <p:cNvGrpSpPr/>
          <p:nvPr/>
        </p:nvGrpSpPr>
        <p:grpSpPr>
          <a:xfrm>
            <a:off x="11963400" y="7124856"/>
            <a:ext cx="2743200" cy="1191752"/>
            <a:chOff x="15209519" y="4027948"/>
            <a:chExt cx="2743200" cy="1191752"/>
          </a:xfrm>
        </p:grpSpPr>
        <p:sp>
          <p:nvSpPr>
            <p:cNvPr id="16" name="Rounded Rectangle 15"/>
            <p:cNvSpPr/>
            <p:nvPr/>
          </p:nvSpPr>
          <p:spPr>
            <a:xfrm>
              <a:off x="15209519" y="4027948"/>
              <a:ext cx="2667000" cy="1191752"/>
            </a:xfrm>
            <a:prstGeom prst="round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" name="TextBox 17"/>
            <p:cNvSpPr txBox="1"/>
            <p:nvPr/>
          </p:nvSpPr>
          <p:spPr>
            <a:xfrm>
              <a:off x="15209519" y="4348490"/>
              <a:ext cx="2743200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b="1" dirty="0" smtClean="0"/>
                <a:t>Similarity Matching</a:t>
              </a:r>
              <a:endParaRPr lang="en-US" sz="2400" b="1" dirty="0"/>
            </a:p>
          </p:txBody>
        </p:sp>
      </p:grpSp>
      <p:cxnSp>
        <p:nvCxnSpPr>
          <p:cNvPr id="26" name="Straight Arrow Connector 25"/>
          <p:cNvCxnSpPr>
            <a:stCxn id="7" idx="3"/>
          </p:cNvCxnSpPr>
          <p:nvPr/>
        </p:nvCxnSpPr>
        <p:spPr>
          <a:xfrm>
            <a:off x="5410200" y="5187649"/>
            <a:ext cx="1554480" cy="15212"/>
          </a:xfrm>
          <a:prstGeom prst="straightConnector1">
            <a:avLst/>
          </a:prstGeom>
          <a:ln w="762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Arrow Connector 26"/>
          <p:cNvCxnSpPr/>
          <p:nvPr/>
        </p:nvCxnSpPr>
        <p:spPr>
          <a:xfrm>
            <a:off x="9677400" y="5263518"/>
            <a:ext cx="2209800" cy="15212"/>
          </a:xfrm>
          <a:prstGeom prst="straightConnector1">
            <a:avLst/>
          </a:prstGeom>
          <a:ln w="762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Straight Arrow Connector 29"/>
          <p:cNvCxnSpPr>
            <a:stCxn id="14" idx="2"/>
            <a:endCxn id="16" idx="0"/>
          </p:cNvCxnSpPr>
          <p:nvPr/>
        </p:nvCxnSpPr>
        <p:spPr>
          <a:xfrm flipH="1">
            <a:off x="13296900" y="5874606"/>
            <a:ext cx="19050" cy="1250250"/>
          </a:xfrm>
          <a:prstGeom prst="straightConnector1">
            <a:avLst/>
          </a:prstGeom>
          <a:ln w="762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Rounded Rectangle 30"/>
          <p:cNvSpPr/>
          <p:nvPr/>
        </p:nvSpPr>
        <p:spPr>
          <a:xfrm>
            <a:off x="6877050" y="7176644"/>
            <a:ext cx="2876550" cy="1014856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TextBox 31"/>
          <p:cNvSpPr txBox="1"/>
          <p:nvPr/>
        </p:nvSpPr>
        <p:spPr>
          <a:xfrm>
            <a:off x="7391400" y="7511504"/>
            <a:ext cx="22860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 smtClean="0"/>
              <a:t>Search Output</a:t>
            </a:r>
            <a:endParaRPr lang="en-US" sz="2400" b="1" dirty="0"/>
          </a:p>
        </p:txBody>
      </p:sp>
      <p:cxnSp>
        <p:nvCxnSpPr>
          <p:cNvPr id="34" name="Straight Arrow Connector 33"/>
          <p:cNvCxnSpPr>
            <a:stCxn id="16" idx="1"/>
            <a:endCxn id="31" idx="3"/>
          </p:cNvCxnSpPr>
          <p:nvPr/>
        </p:nvCxnSpPr>
        <p:spPr>
          <a:xfrm flipH="1" flipV="1">
            <a:off x="9753600" y="7684072"/>
            <a:ext cx="2209800" cy="36660"/>
          </a:xfrm>
          <a:prstGeom prst="straightConnector1">
            <a:avLst/>
          </a:prstGeom>
          <a:ln w="762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Can 35"/>
          <p:cNvSpPr/>
          <p:nvPr/>
        </p:nvSpPr>
        <p:spPr>
          <a:xfrm>
            <a:off x="15842920" y="6057900"/>
            <a:ext cx="1778330" cy="2109344"/>
          </a:xfrm>
          <a:prstGeom prst="can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8" name="Straight Arrow Connector 37"/>
          <p:cNvCxnSpPr>
            <a:endCxn id="18" idx="3"/>
          </p:cNvCxnSpPr>
          <p:nvPr/>
        </p:nvCxnSpPr>
        <p:spPr>
          <a:xfrm flipH="1">
            <a:off x="14706600" y="7445398"/>
            <a:ext cx="1238250" cy="230833"/>
          </a:xfrm>
          <a:prstGeom prst="straightConnector1">
            <a:avLst/>
          </a:prstGeom>
          <a:ln w="76200"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TextBox 38"/>
          <p:cNvSpPr txBox="1"/>
          <p:nvPr/>
        </p:nvSpPr>
        <p:spPr>
          <a:xfrm>
            <a:off x="16192500" y="6663574"/>
            <a:ext cx="142875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 smtClean="0"/>
              <a:t>Elastic Search Indexed Documents</a:t>
            </a:r>
            <a:endParaRPr lang="en-US" sz="2000" b="1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4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2895600" y="4838700"/>
            <a:ext cx="12955750" cy="9233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241"/>
              </a:lnSpc>
            </a:pPr>
            <a:r>
              <a:rPr lang="en-US" sz="6600" b="1" spc="278" dirty="0" smtClean="0">
                <a:solidFill>
                  <a:srgbClr val="231F20"/>
                </a:solidFill>
                <a:latin typeface="Oswald Bold"/>
                <a:ea typeface="Oswald Bold"/>
                <a:cs typeface="Oswald Bold"/>
                <a:sym typeface="Oswald Bold"/>
              </a:rPr>
              <a:t>THANK YOU</a:t>
            </a:r>
            <a:endParaRPr lang="en-US" sz="6600" b="1" spc="278" dirty="0">
              <a:solidFill>
                <a:srgbClr val="231F20"/>
              </a:solidFill>
              <a:latin typeface="Oswald Bold"/>
              <a:ea typeface="Oswald Bold"/>
              <a:cs typeface="Oswald Bold"/>
              <a:sym typeface="Oswald Bold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59</TotalTime>
  <Words>512</Words>
  <Application>Microsoft Office PowerPoint</Application>
  <PresentationFormat>Custom</PresentationFormat>
  <Paragraphs>65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8" baseType="lpstr">
      <vt:lpstr>Oswald Bold</vt:lpstr>
      <vt:lpstr>Arial</vt:lpstr>
      <vt:lpstr>Calibri</vt:lpstr>
      <vt:lpstr>DM Sans Bold</vt:lpstr>
      <vt:lpstr>DM Sans</vt:lpstr>
      <vt:lpstr>Montserrat Classic 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Semnatic</dc:title>
  <cp:lastModifiedBy>acer</cp:lastModifiedBy>
  <cp:revision>7</cp:revision>
  <dcterms:created xsi:type="dcterms:W3CDTF">2006-08-16T00:00:00Z</dcterms:created>
  <dcterms:modified xsi:type="dcterms:W3CDTF">2024-10-06T15:32:46Z</dcterms:modified>
  <dc:identifier>DAGSzTonDZE</dc:identifier>
</cp:coreProperties>
</file>